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64" r:id="rId7"/>
    <p:sldId id="293" r:id="rId8"/>
    <p:sldId id="291" r:id="rId9"/>
    <p:sldId id="268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6" autoAdjust="0"/>
    <p:restoredTop sz="93204" autoAdjust="0"/>
  </p:normalViewPr>
  <p:slideViewPr>
    <p:cSldViewPr snapToGrid="0">
      <p:cViewPr varScale="1">
        <p:scale>
          <a:sx n="93" d="100"/>
          <a:sy n="93" d="100"/>
        </p:scale>
        <p:origin x="90" y="576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868A07-1382-475E-862C-E151EEBA0DB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A4D419-4EAB-4A36-8EAC-0D869556CBF5}">
      <dgm:prSet phldrT="[Text]" phldr="0"/>
      <dgm:spPr/>
      <dgm:t>
        <a:bodyPr/>
        <a:lstStyle/>
        <a:p>
          <a:r>
            <a:rPr lang="en-US" dirty="0"/>
            <a:t>Blame</a:t>
          </a:r>
        </a:p>
      </dgm:t>
    </dgm:pt>
    <dgm:pt modelId="{298AEA36-4222-432F-8DD5-5FF54663B886}" type="parTrans" cxnId="{BF706AF7-2B6B-4B56-BBA5-7D9E0E9D4913}">
      <dgm:prSet/>
      <dgm:spPr/>
      <dgm:t>
        <a:bodyPr/>
        <a:lstStyle/>
        <a:p>
          <a:endParaRPr lang="en-US"/>
        </a:p>
      </dgm:t>
    </dgm:pt>
    <dgm:pt modelId="{7EC00258-9595-4F94-B66B-953A571CC8B2}" type="sibTrans" cxnId="{BF706AF7-2B6B-4B56-BBA5-7D9E0E9D4913}">
      <dgm:prSet/>
      <dgm:spPr/>
      <dgm:t>
        <a:bodyPr/>
        <a:lstStyle/>
        <a:p>
          <a:endParaRPr lang="en-US"/>
        </a:p>
      </dgm:t>
    </dgm:pt>
    <dgm:pt modelId="{8702F37A-4E79-44BC-A486-F954D2D2C3F4}">
      <dgm:prSet phldrT="[Text]" phldr="0"/>
      <dgm:spPr/>
      <dgm:t>
        <a:bodyPr/>
        <a:lstStyle/>
        <a:p>
          <a:r>
            <a:rPr lang="en-US" dirty="0"/>
            <a:t>Just Culture</a:t>
          </a:r>
        </a:p>
      </dgm:t>
    </dgm:pt>
    <dgm:pt modelId="{D7398029-369A-4286-B9F0-D9CFD3E73089}" type="parTrans" cxnId="{CDFB89C1-1C13-416A-970A-8CC0CF2F045E}">
      <dgm:prSet/>
      <dgm:spPr/>
      <dgm:t>
        <a:bodyPr/>
        <a:lstStyle/>
        <a:p>
          <a:endParaRPr lang="en-US"/>
        </a:p>
      </dgm:t>
    </dgm:pt>
    <dgm:pt modelId="{F1191F9E-C6CF-402A-9F75-CFB79C1D78EF}" type="sibTrans" cxnId="{CDFB89C1-1C13-416A-970A-8CC0CF2F045E}">
      <dgm:prSet/>
      <dgm:spPr/>
      <dgm:t>
        <a:bodyPr/>
        <a:lstStyle/>
        <a:p>
          <a:endParaRPr lang="en-US"/>
        </a:p>
      </dgm:t>
    </dgm:pt>
    <dgm:pt modelId="{2F5E5A0E-FFC1-42BA-9D5D-70D3676ED239}">
      <dgm:prSet phldrT="[Text]" phldr="0"/>
      <dgm:spPr/>
      <dgm:t>
        <a:bodyPr/>
        <a:lstStyle/>
        <a:p>
          <a:r>
            <a:rPr lang="en-US" dirty="0"/>
            <a:t>Learning</a:t>
          </a:r>
        </a:p>
      </dgm:t>
    </dgm:pt>
    <dgm:pt modelId="{57B67A99-645D-4B8C-AD3B-994A94BB5281}" type="parTrans" cxnId="{F022B9D3-0BDA-4210-BC1A-F785751068E6}">
      <dgm:prSet/>
      <dgm:spPr/>
      <dgm:t>
        <a:bodyPr/>
        <a:lstStyle/>
        <a:p>
          <a:endParaRPr lang="en-US"/>
        </a:p>
      </dgm:t>
    </dgm:pt>
    <dgm:pt modelId="{74D6885B-AEC1-4CB3-B6A2-E731843254CA}" type="sibTrans" cxnId="{F022B9D3-0BDA-4210-BC1A-F785751068E6}">
      <dgm:prSet/>
      <dgm:spPr/>
      <dgm:t>
        <a:bodyPr/>
        <a:lstStyle/>
        <a:p>
          <a:endParaRPr lang="en-US"/>
        </a:p>
      </dgm:t>
    </dgm:pt>
    <dgm:pt modelId="{3074802F-5CDF-4CF9-B5B3-3A917F723CA3}" type="pres">
      <dgm:prSet presAssocID="{BC868A07-1382-475E-862C-E151EEBA0DB8}" presName="Name0" presStyleCnt="0">
        <dgm:presLayoutVars>
          <dgm:dir/>
          <dgm:animLvl val="lvl"/>
          <dgm:resizeHandles val="exact"/>
        </dgm:presLayoutVars>
      </dgm:prSet>
      <dgm:spPr/>
    </dgm:pt>
    <dgm:pt modelId="{8244FBBD-7C82-41B4-BC44-E95B15F2F864}" type="pres">
      <dgm:prSet presAssocID="{BBA4D419-4EAB-4A36-8EAC-0D869556CBF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9E20E54-27AF-4880-9ACC-A658D89E0E08}" type="pres">
      <dgm:prSet presAssocID="{7EC00258-9595-4F94-B66B-953A571CC8B2}" presName="parTxOnlySpace" presStyleCnt="0"/>
      <dgm:spPr/>
    </dgm:pt>
    <dgm:pt modelId="{0CC06F3C-56BB-46E7-A58B-B0123AD4BFF3}" type="pres">
      <dgm:prSet presAssocID="{8702F37A-4E79-44BC-A486-F954D2D2C3F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6EF87C9-DA8A-4C1A-8F75-AAA8CE0BE994}" type="pres">
      <dgm:prSet presAssocID="{F1191F9E-C6CF-402A-9F75-CFB79C1D78EF}" presName="parTxOnlySpace" presStyleCnt="0"/>
      <dgm:spPr/>
    </dgm:pt>
    <dgm:pt modelId="{CE31E6B1-5560-45F7-914A-F7001F67A013}" type="pres">
      <dgm:prSet presAssocID="{2F5E5A0E-FFC1-42BA-9D5D-70D3676ED239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159A20A-8B3E-4F87-95C0-D9787A420331}" type="presOf" srcId="{8702F37A-4E79-44BC-A486-F954D2D2C3F4}" destId="{0CC06F3C-56BB-46E7-A58B-B0123AD4BFF3}" srcOrd="0" destOrd="0" presId="urn:microsoft.com/office/officeart/2005/8/layout/chevron1"/>
    <dgm:cxn modelId="{EDCB630C-4C6A-4D9B-A77B-C93462E11438}" type="presOf" srcId="{BC868A07-1382-475E-862C-E151EEBA0DB8}" destId="{3074802F-5CDF-4CF9-B5B3-3A917F723CA3}" srcOrd="0" destOrd="0" presId="urn:microsoft.com/office/officeart/2005/8/layout/chevron1"/>
    <dgm:cxn modelId="{5A85E673-FFE4-49D7-B3EA-2E6FD69D8377}" type="presOf" srcId="{2F5E5A0E-FFC1-42BA-9D5D-70D3676ED239}" destId="{CE31E6B1-5560-45F7-914A-F7001F67A013}" srcOrd="0" destOrd="0" presId="urn:microsoft.com/office/officeart/2005/8/layout/chevron1"/>
    <dgm:cxn modelId="{C4A2CDA7-657F-475F-B5AA-C4A6EAE7E4FA}" type="presOf" srcId="{BBA4D419-4EAB-4A36-8EAC-0D869556CBF5}" destId="{8244FBBD-7C82-41B4-BC44-E95B15F2F864}" srcOrd="0" destOrd="0" presId="urn:microsoft.com/office/officeart/2005/8/layout/chevron1"/>
    <dgm:cxn modelId="{CDFB89C1-1C13-416A-970A-8CC0CF2F045E}" srcId="{BC868A07-1382-475E-862C-E151EEBA0DB8}" destId="{8702F37A-4E79-44BC-A486-F954D2D2C3F4}" srcOrd="1" destOrd="0" parTransId="{D7398029-369A-4286-B9F0-D9CFD3E73089}" sibTransId="{F1191F9E-C6CF-402A-9F75-CFB79C1D78EF}"/>
    <dgm:cxn modelId="{F022B9D3-0BDA-4210-BC1A-F785751068E6}" srcId="{BC868A07-1382-475E-862C-E151EEBA0DB8}" destId="{2F5E5A0E-FFC1-42BA-9D5D-70D3676ED239}" srcOrd="2" destOrd="0" parTransId="{57B67A99-645D-4B8C-AD3B-994A94BB5281}" sibTransId="{74D6885B-AEC1-4CB3-B6A2-E731843254CA}"/>
    <dgm:cxn modelId="{BF706AF7-2B6B-4B56-BBA5-7D9E0E9D4913}" srcId="{BC868A07-1382-475E-862C-E151EEBA0DB8}" destId="{BBA4D419-4EAB-4A36-8EAC-0D869556CBF5}" srcOrd="0" destOrd="0" parTransId="{298AEA36-4222-432F-8DD5-5FF54663B886}" sibTransId="{7EC00258-9595-4F94-B66B-953A571CC8B2}"/>
    <dgm:cxn modelId="{594D5124-1C71-471F-B1D2-89904D2CCD60}" type="presParOf" srcId="{3074802F-5CDF-4CF9-B5B3-3A917F723CA3}" destId="{8244FBBD-7C82-41B4-BC44-E95B15F2F864}" srcOrd="0" destOrd="0" presId="urn:microsoft.com/office/officeart/2005/8/layout/chevron1"/>
    <dgm:cxn modelId="{8ECCD7C6-ECE8-400C-B221-0C2F2871AC20}" type="presParOf" srcId="{3074802F-5CDF-4CF9-B5B3-3A917F723CA3}" destId="{79E20E54-27AF-4880-9ACC-A658D89E0E08}" srcOrd="1" destOrd="0" presId="urn:microsoft.com/office/officeart/2005/8/layout/chevron1"/>
    <dgm:cxn modelId="{9DBDABA1-EB62-43D6-B742-97540AD13819}" type="presParOf" srcId="{3074802F-5CDF-4CF9-B5B3-3A917F723CA3}" destId="{0CC06F3C-56BB-46E7-A58B-B0123AD4BFF3}" srcOrd="2" destOrd="0" presId="urn:microsoft.com/office/officeart/2005/8/layout/chevron1"/>
    <dgm:cxn modelId="{FE652A16-0A37-442F-9C6C-C76ED09FA265}" type="presParOf" srcId="{3074802F-5CDF-4CF9-B5B3-3A917F723CA3}" destId="{E6EF87C9-DA8A-4C1A-8F75-AAA8CE0BE994}" srcOrd="3" destOrd="0" presId="urn:microsoft.com/office/officeart/2005/8/layout/chevron1"/>
    <dgm:cxn modelId="{C8E223C3-CE2A-4F86-BA3C-8583283F02A1}" type="presParOf" srcId="{3074802F-5CDF-4CF9-B5B3-3A917F723CA3}" destId="{CE31E6B1-5560-45F7-914A-F7001F67A013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4FBBD-7C82-41B4-BC44-E95B15F2F864}">
      <dsp:nvSpPr>
        <dsp:cNvPr id="0" name=""/>
        <dsp:cNvSpPr/>
      </dsp:nvSpPr>
      <dsp:spPr>
        <a:xfrm>
          <a:off x="2381" y="54338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Blame</a:t>
          </a:r>
        </a:p>
      </dsp:txBody>
      <dsp:txXfrm>
        <a:off x="582612" y="543388"/>
        <a:ext cx="1740694" cy="1160462"/>
      </dsp:txXfrm>
    </dsp:sp>
    <dsp:sp modelId="{0CC06F3C-56BB-46E7-A58B-B0123AD4BFF3}">
      <dsp:nvSpPr>
        <dsp:cNvPr id="0" name=""/>
        <dsp:cNvSpPr/>
      </dsp:nvSpPr>
      <dsp:spPr>
        <a:xfrm>
          <a:off x="2613421" y="54338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Just Culture</a:t>
          </a:r>
        </a:p>
      </dsp:txBody>
      <dsp:txXfrm>
        <a:off x="3193652" y="543388"/>
        <a:ext cx="1740694" cy="1160462"/>
      </dsp:txXfrm>
    </dsp:sp>
    <dsp:sp modelId="{CE31E6B1-5560-45F7-914A-F7001F67A013}">
      <dsp:nvSpPr>
        <dsp:cNvPr id="0" name=""/>
        <dsp:cNvSpPr/>
      </dsp:nvSpPr>
      <dsp:spPr>
        <a:xfrm>
          <a:off x="5224462" y="543388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Learning</a:t>
          </a:r>
        </a:p>
      </dsp:txBody>
      <dsp:txXfrm>
        <a:off x="5804693" y="543388"/>
        <a:ext cx="1740694" cy="116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D98E6-A944-954A-8590-AF499446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8A35F-1B35-D6EC-7F89-5297B5D2D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99674-89A9-E4A8-FF4F-569337D41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5A65D-293A-6C9E-882C-5A7F4151A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378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snet.ahrq.gov/perspective/making-just-culture-reality-one-organizations-approac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wtwco.com/en-us/insights/2024/08/patient-safety-in-a-just-culture-encouraging-reporting-and-learning-from-errors" TargetMode="External"/><Relationship Id="rId5" Type="http://schemas.openxmlformats.org/officeDocument/2006/relationships/hyperlink" Target="https://pmc.ncbi.nlm.nih.gov/articles/PMC3776518/" TargetMode="External"/><Relationship Id="rId4" Type="http://schemas.openxmlformats.org/officeDocument/2006/relationships/hyperlink" Target="https://psnet.ahrq.gov/issue/requirements-implementing-just-culture-within-healthcare-organisations-integrative-re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Establishing a Just, Learning Culture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7F4C4-8CB8-138C-4861-82E4D8A4B433}"/>
              </a:ext>
            </a:extLst>
          </p:cNvPr>
          <p:cNvSpPr txBox="1"/>
          <p:nvPr/>
        </p:nvSpPr>
        <p:spPr>
          <a:xfrm>
            <a:off x="4714772" y="3704376"/>
            <a:ext cx="622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Barriers &amp; challenges to implementing a “Just Culture”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E09D6-10EE-52C3-3C94-27437D172C44}"/>
              </a:ext>
            </a:extLst>
          </p:cNvPr>
          <p:cNvSpPr txBox="1"/>
          <p:nvPr/>
        </p:nvSpPr>
        <p:spPr>
          <a:xfrm>
            <a:off x="8423671" y="5069126"/>
            <a:ext cx="2513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Brennan Cheatwood</a:t>
            </a:r>
          </a:p>
          <a:p>
            <a:r>
              <a:rPr lang="en-US" b="1" dirty="0">
                <a:solidFill>
                  <a:schemeClr val="bg2"/>
                </a:solidFill>
              </a:rPr>
              <a:t>CSD380 | 2/14/2026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282" y="113016"/>
            <a:ext cx="6343650" cy="1412961"/>
          </a:xfrm>
        </p:spPr>
        <p:txBody>
          <a:bodyPr>
            <a:normAutofit/>
          </a:bodyPr>
          <a:lstStyle/>
          <a:p>
            <a:r>
              <a:rPr lang="en-US" dirty="0"/>
              <a:t>What “Just Culture” Means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774022" y="1525977"/>
            <a:ext cx="8979614" cy="2668587"/>
          </a:xfrm>
        </p:spPr>
        <p:txBody>
          <a:bodyPr>
            <a:normAutofit/>
          </a:bodyPr>
          <a:lstStyle/>
          <a:p>
            <a:r>
              <a:rPr lang="en-US" dirty="0"/>
              <a:t>Just Culture = learning from mistakes while still having fair accountability.</a:t>
            </a:r>
          </a:p>
          <a:p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A305AFA-7F3F-392F-234F-3662B9E1AF2C}"/>
              </a:ext>
            </a:extLst>
          </p:cNvPr>
          <p:cNvSpPr txBox="1">
            <a:spLocks/>
          </p:cNvSpPr>
          <p:nvPr/>
        </p:nvSpPr>
        <p:spPr>
          <a:xfrm>
            <a:off x="4304872" y="3326258"/>
            <a:ext cx="7715892" cy="2668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Human Error -&gt; console/support + fix the system</a:t>
            </a:r>
          </a:p>
          <a:p>
            <a:r>
              <a:rPr lang="en-US" b="1" dirty="0"/>
              <a:t>At-risk behavior -&gt; coaching + reduce incentives for risky shortcuts</a:t>
            </a:r>
          </a:p>
          <a:p>
            <a:r>
              <a:rPr lang="en-US" b="1" dirty="0"/>
              <a:t>Reckless behavior -&gt; appropriate discipline</a:t>
            </a:r>
          </a:p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49DDF-91DC-2FD4-1D42-8958BD894715}"/>
              </a:ext>
            </a:extLst>
          </p:cNvPr>
          <p:cNvSpPr txBox="1"/>
          <p:nvPr/>
        </p:nvSpPr>
        <p:spPr>
          <a:xfrm>
            <a:off x="4078841" y="6538912"/>
            <a:ext cx="6102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https://www.justculture.healthcare/understanding-behaviors-and-errors/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323106"/>
          </a:xfrm>
        </p:spPr>
        <p:txBody>
          <a:bodyPr/>
          <a:lstStyle/>
          <a:p>
            <a:r>
              <a:rPr lang="en-US" dirty="0"/>
              <a:t>Barrier #1: Fear of blame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2219218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If people expect punishment, they hide errors/near misses</a:t>
            </a:r>
          </a:p>
          <a:p>
            <a:r>
              <a:rPr lang="en-US" dirty="0"/>
              <a:t>Common reasons reporting stays low:</a:t>
            </a:r>
          </a:p>
          <a:p>
            <a:r>
              <a:rPr lang="en-US" dirty="0"/>
              <a:t>	Fear of retaliation or getting written up</a:t>
            </a:r>
          </a:p>
          <a:p>
            <a:r>
              <a:rPr lang="en-US" dirty="0"/>
              <a:t>	Embarrassment / reputational concerns</a:t>
            </a:r>
          </a:p>
          <a:p>
            <a:r>
              <a:rPr lang="en-US" dirty="0"/>
              <a:t>	Worry about legal consequences (in some 	industries)</a:t>
            </a:r>
          </a:p>
          <a:p>
            <a:endParaRPr lang="en-US" dirty="0"/>
          </a:p>
          <a:p>
            <a:r>
              <a:rPr lang="en-US" dirty="0"/>
              <a:t>Why it matters: without reporting, the org can’t learn what’s actually happening.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F5E3A-AB62-908C-9782-555D10722225}"/>
              </a:ext>
            </a:extLst>
          </p:cNvPr>
          <p:cNvSpPr txBox="1"/>
          <p:nvPr/>
        </p:nvSpPr>
        <p:spPr>
          <a:xfrm>
            <a:off x="0" y="6355080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https://www.wtwco.com/en-us/insights/2024/08/patient-safety-in-a-just-culture-encouraging-reporting-and-learning-from-errors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A786-61BF-6EE7-016B-9583650D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AADF-FA06-EB3D-F142-C7271099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01" y="135825"/>
            <a:ext cx="6589150" cy="1323106"/>
          </a:xfrm>
        </p:spPr>
        <p:txBody>
          <a:bodyPr>
            <a:normAutofit fontScale="90000"/>
          </a:bodyPr>
          <a:lstStyle/>
          <a:p>
            <a:r>
              <a:rPr lang="en-US" dirty="0"/>
              <a:t>Barrier #2: Leadership inconsistency + mixed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D9F7B-7EF0-5A7B-4499-B1ABD4B1362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2219218"/>
            <a:ext cx="6597650" cy="382198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/>
              <a:t>Just culture fails when leaders say “speak up,” but then respond with blame</a:t>
            </a:r>
          </a:p>
          <a:p>
            <a:r>
              <a:rPr lang="en-US" dirty="0"/>
              <a:t>Common leadership challenges:</a:t>
            </a:r>
          </a:p>
          <a:p>
            <a:r>
              <a:rPr lang="en-US" dirty="0"/>
              <a:t>	Different managers handle the same mistake 	differently (feels unfair)</a:t>
            </a:r>
          </a:p>
          <a:p>
            <a:r>
              <a:rPr lang="en-US" dirty="0"/>
              <a:t>	“Zero tolerance” language clashes with learning</a:t>
            </a:r>
          </a:p>
          <a:p>
            <a:r>
              <a:rPr lang="en-US" dirty="0"/>
              <a:t>	Lack of time/resources for training and follow-	through</a:t>
            </a:r>
          </a:p>
          <a:p>
            <a:endParaRPr lang="en-US" dirty="0"/>
          </a:p>
          <a:p>
            <a:r>
              <a:rPr lang="en-US" dirty="0"/>
              <a:t>Key point: It’s a paradigm shift away from blame, which takes time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F2840-F398-0C69-A06E-1F89A084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01C99-F156-0B7D-89C3-F7CF5E9405C7}"/>
              </a:ext>
            </a:extLst>
          </p:cNvPr>
          <p:cNvSpPr txBox="1"/>
          <p:nvPr/>
        </p:nvSpPr>
        <p:spPr>
          <a:xfrm>
            <a:off x="0" y="6355080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https://psnet.ahrq.gov/issue/requirements-implementing-just-culture-within-healthcare-organisations-integrative-review</a:t>
            </a:r>
          </a:p>
        </p:txBody>
      </p:sp>
    </p:spTree>
    <p:extLst>
      <p:ext uri="{BB962C8B-B14F-4D97-AF65-F5344CB8AC3E}">
        <p14:creationId xmlns:p14="http://schemas.microsoft.com/office/powerpoint/2010/main" val="138474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6753" y="92468"/>
            <a:ext cx="6449786" cy="547332"/>
          </a:xfrm>
        </p:spPr>
        <p:txBody>
          <a:bodyPr>
            <a:normAutofit/>
          </a:bodyPr>
          <a:lstStyle/>
          <a:p>
            <a:r>
              <a:rPr lang="en-US" sz="2800" dirty="0"/>
              <a:t>Why culture change is hard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772" y="3373686"/>
            <a:ext cx="6449785" cy="171202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Culture change is slow and mostly behavior based</a:t>
            </a:r>
          </a:p>
          <a:p>
            <a:r>
              <a:rPr lang="en-US" dirty="0"/>
              <a:t>People watch what happens after an incident more than what leaders say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A1BC672-B8DC-E22B-280F-C9BCAA0D63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2917689"/>
              </p:ext>
            </p:extLst>
          </p:nvPr>
        </p:nvGraphicFramePr>
        <p:xfrm>
          <a:off x="3799154" y="876104"/>
          <a:ext cx="8128000" cy="2247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A148AE-6CD0-6A14-4BB1-250D1E8F033E}"/>
              </a:ext>
            </a:extLst>
          </p:cNvPr>
          <p:cNvSpPr txBox="1"/>
          <p:nvPr/>
        </p:nvSpPr>
        <p:spPr>
          <a:xfrm>
            <a:off x="3667873" y="2706804"/>
            <a:ext cx="6981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just culture is hard because it’s not just a policy, it changes how</a:t>
            </a:r>
          </a:p>
          <a:p>
            <a:r>
              <a:rPr lang="en-US" dirty="0"/>
              <a:t>People react under stress.</a:t>
            </a:r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901866"/>
          </a:xfrm>
        </p:spPr>
        <p:txBody>
          <a:bodyPr>
            <a:noAutofit/>
          </a:bodyPr>
          <a:lstStyle/>
          <a:p>
            <a:r>
              <a:rPr lang="en-US" sz="2800" dirty="0"/>
              <a:t>Barrier #3: HR/legal systems that don’t match “Just Culture”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Even if safety leaders want learning, HR and compliance may still default to punishment.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Also a barrier: unrealistic expectation of “perfection” (errors seen as unacceptable instead of expected in complex systems)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738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Typical conflicts:</a:t>
            </a:r>
          </a:p>
          <a:p>
            <a:pPr lvl="1"/>
            <a:r>
              <a:rPr lang="en-US" dirty="0"/>
              <a:t>Performance management vs learning mindset</a:t>
            </a:r>
          </a:p>
          <a:p>
            <a:pPr lvl="1"/>
            <a:r>
              <a:rPr lang="en-US" dirty="0"/>
              <a:t>Documentation/Discipline processes that encourage blame</a:t>
            </a:r>
          </a:p>
          <a:p>
            <a:pPr lvl="1"/>
            <a:r>
              <a:rPr lang="en-US" dirty="0"/>
              <a:t>Unclear rules about triggers investigation vs coaching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686109"/>
          </a:xfrm>
        </p:spPr>
        <p:txBody>
          <a:bodyPr>
            <a:normAutofit fontScale="90000"/>
          </a:bodyPr>
          <a:lstStyle/>
          <a:p>
            <a:r>
              <a:rPr lang="en-US" dirty="0"/>
              <a:t>Wrap-Up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/>
          <a:p>
            <a:r>
              <a:rPr lang="en-US" dirty="0"/>
              <a:t>Biggest barriers I found:</a:t>
            </a:r>
          </a:p>
          <a:p>
            <a:pPr lvl="1"/>
            <a:r>
              <a:rPr lang="en-US" dirty="0"/>
              <a:t>Fear stops reporting</a:t>
            </a:r>
          </a:p>
          <a:p>
            <a:pPr lvl="1"/>
            <a:r>
              <a:rPr lang="en-US" dirty="0"/>
              <a:t>Inconsistent leadership makes it feel unfair</a:t>
            </a:r>
          </a:p>
          <a:p>
            <a:pPr lvl="1"/>
            <a:r>
              <a:rPr lang="en-US" dirty="0"/>
              <a:t>Old HR/legal habits pull the org back into blame</a:t>
            </a:r>
          </a:p>
          <a:p>
            <a:pPr lvl="1"/>
            <a:r>
              <a:rPr lang="en-US" dirty="0"/>
              <a:t>Culture change takes time and repeated reinforcement</a:t>
            </a:r>
          </a:p>
          <a:p>
            <a:pPr lvl="1"/>
            <a:endParaRPr lang="en-US" dirty="0"/>
          </a:p>
          <a:p>
            <a:r>
              <a:rPr lang="en-US" dirty="0"/>
              <a:t>A just culture is basically a long-term commitment, not a one-time rollout.</a:t>
            </a:r>
          </a:p>
          <a:p>
            <a:pPr lvl="1"/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7F82D-C0FB-C63F-704D-034101205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References: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https://psnet.ahrq.gov/perspective/making-just-culture-reality-one-organizations-approach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https://psnet.ahrq.gov/issue/requirements-implementing-just-culture-within-healthcare-organisations-integrative-review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https://pmc.ncbi.nlm.nih.gov/articles/PMC3776518/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https://www.wtwco.com/en-us/insights/2024/08/patient-safety-in-a-just-culture-encouraging-reporting-and-learning-from-errors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{3DD01483-DA7A-426F-A8F9-DCCDF1ACCC2B}TF55c86556-70ea-476e-aa05-13a38f2d5b0da1381d77_win32-a3c664429073</Template>
  <TotalTime>26</TotalTime>
  <Words>478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 LT Pro</vt:lpstr>
      <vt:lpstr>Calibri</vt:lpstr>
      <vt:lpstr>Custom</vt:lpstr>
      <vt:lpstr>Establishing a Just, Learning Culture</vt:lpstr>
      <vt:lpstr>What “Just Culture” Means</vt:lpstr>
      <vt:lpstr>Barrier #1: Fear of blame</vt:lpstr>
      <vt:lpstr>Barrier #2: Leadership inconsistency + mixed messages</vt:lpstr>
      <vt:lpstr>Why culture change is hard</vt:lpstr>
      <vt:lpstr>Barrier #3: HR/legal systems that don’t match “Just Culture”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Brennan Cheatwood</dc:creator>
  <cp:lastModifiedBy>Brennan Cheatwood</cp:lastModifiedBy>
  <cp:revision>3</cp:revision>
  <dcterms:created xsi:type="dcterms:W3CDTF">2026-02-14T19:33:01Z</dcterms:created>
  <dcterms:modified xsi:type="dcterms:W3CDTF">2026-02-14T19:59:38Z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